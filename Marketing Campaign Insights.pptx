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444"/>
    <a:srgbClr val="1E293B"/>
    <a:srgbClr val="F59E0B"/>
    <a:srgbClr val="6366F1"/>
    <a:srgbClr val="10B981"/>
    <a:srgbClr val="334155"/>
    <a:srgbClr val="CBD5E1"/>
    <a:srgbClr val="64748B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0" autoAdjust="0"/>
    <p:restoredTop sz="94189" autoAdjust="0"/>
  </p:normalViewPr>
  <p:slideViewPr>
    <p:cSldViewPr snapToGrid="0">
      <p:cViewPr varScale="1">
        <p:scale>
          <a:sx n="57" d="100"/>
          <a:sy n="57" d="100"/>
        </p:scale>
        <p:origin x="7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3559-E530-1C87-6A24-FA1B0FCD3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C5CF4-779F-3CB0-1B41-AD229E816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D884-5FD1-0353-348B-CBFE0B58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29041-AC76-9846-0944-3B055AF0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D05F-D32C-8B9D-9221-38BB4CC3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1311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E469-43E4-9A2A-F291-54766C33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876C-1B2A-9B43-E988-EFD7B8A2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A9053-28A8-E283-D216-88207B52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AB5CD-7EF2-907B-24F7-B20A1F1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B079E-DBDC-35B0-9200-B7F2F4B8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1739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1BB6-8F32-8F50-4B9A-831F11BA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5A197-4399-A279-7974-EA31CE3F3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D0119-0CEC-88DA-8431-B396B3A4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734BA-BF22-E476-7A73-DC221DAF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D11E3-D02B-FA08-1B6D-D4A5D386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4551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69A4-C189-4E3E-1616-EBBD30CE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6F29-276A-4DAD-1DD3-119E90569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DA747-5299-7DCE-4FA8-FB830683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08E56-F9BB-40BC-518F-3C25D2D75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F9FFD-BD07-F80E-B8A0-091241FA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08B25-935C-FA68-1BEE-29F55BCA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1714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983A-BD36-7396-894B-00941DC6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AE4C2-2497-D75A-6C1A-8D2CFFA0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B68C0-74BC-C2FE-6EA5-A5500CF25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4E903-3BD5-6399-806C-1D9EF7218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DFCDD-9131-07A0-BE96-810BDF325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2C131-741C-25FC-64BE-35EB54E9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CACBD-0D14-9C37-82F8-8CE43142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BCF8B-4DD2-BCA7-47AA-A7DBC6A0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7412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6BA4-9125-205B-F411-47CAF638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90355-9B95-6550-C60C-838A83BB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31256-BBDC-7214-D69A-71D69E5E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2CEC0-E03F-A609-BAAF-9E435D6F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5126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9A10D-6430-7B9A-09A5-97DFB506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F6E2A-4287-3194-6BC2-3473069E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39DCB-95A0-04E9-D25D-09131E37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8265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3B22-5354-4D91-85C8-3C2B8506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8E98-E3DF-AF87-77A5-4AB2BCCE3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75996-3524-BBCE-8B7B-4429336E4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B1711-24BC-01B3-2FD6-B3927746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46275-1AD6-B71D-ED82-E2C16843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18A14-DDD3-24B2-52CD-BDA65CC7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872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1D28-7D9D-0691-A216-2F154D2F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6F970-438F-6572-86AA-F4102C397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98A82-D069-0791-DF39-B33042047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C28DE-5D04-0B4D-9942-9286C132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428D2-E383-ADDC-AAEF-E348CBD5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29A6-ACA4-2A65-D37F-CA7F3BF2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6672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AED9-BF09-721F-857D-D7E58D7D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4786-F830-B337-A124-8E4DA79BC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E84E-B3B2-A56D-18F1-177BECDD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5B2A-4A14-AD70-2979-7774D2EA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E1E89-8A42-A8E1-823B-FE3D8FD6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26584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A8B7D-95CA-D564-2A01-B6F37D7C5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B6E7D-4836-C1DF-0848-31DF9AAC8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CAC1E-F829-8546-D08B-2E4C9954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386CB-DCB4-9767-0472-A9487893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C5F35-6AB1-3865-2806-EE3992F1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4214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A7E66-B007-43B2-C5B3-82D01A96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20543-8FBE-3FFB-D4AC-3E9B9A527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93127-4C55-05EF-211B-104BCDF40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A180E-9D8B-47DF-9021-AE07448AFFEC}" type="datetimeFigureOut">
              <a:rPr lang="es-CR" smtClean="0"/>
              <a:t>3/3/2026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7AF09-4864-8D48-95B2-93B0D9596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FE495-254E-362F-EAB0-D6DA7BA47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80F65-8E4B-4497-97B0-CA2EA6AA7D29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930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83079C9-EC20-A5A8-0789-5F012F7AC2B4}"/>
              </a:ext>
            </a:extLst>
          </p:cNvPr>
          <p:cNvSpPr/>
          <p:nvPr/>
        </p:nvSpPr>
        <p:spPr>
          <a:xfrm>
            <a:off x="8852122" y="4691963"/>
            <a:ext cx="1401926" cy="1685700"/>
          </a:xfrm>
          <a:prstGeom prst="roundRect">
            <a:avLst/>
          </a:prstGeom>
          <a:solidFill>
            <a:srgbClr val="EF4444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6E39A7-DD6E-046F-E60E-5FA690C59EF1}"/>
              </a:ext>
            </a:extLst>
          </p:cNvPr>
          <p:cNvSpPr/>
          <p:nvPr/>
        </p:nvSpPr>
        <p:spPr>
          <a:xfrm>
            <a:off x="6225300" y="4691963"/>
            <a:ext cx="1401926" cy="1685700"/>
          </a:xfrm>
          <a:prstGeom prst="roundRect">
            <a:avLst/>
          </a:prstGeom>
          <a:solidFill>
            <a:srgbClr val="F59E0B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37331C-CA56-60B3-8987-C3D33DE0C807}"/>
              </a:ext>
            </a:extLst>
          </p:cNvPr>
          <p:cNvSpPr/>
          <p:nvPr/>
        </p:nvSpPr>
        <p:spPr>
          <a:xfrm>
            <a:off x="858106" y="4691963"/>
            <a:ext cx="1401926" cy="1685700"/>
          </a:xfrm>
          <a:prstGeom prst="roundRect">
            <a:avLst/>
          </a:prstGeom>
          <a:solidFill>
            <a:srgbClr val="10B981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D48305-7BB8-E84C-7FBD-7FDDC0B0DC9E}"/>
              </a:ext>
            </a:extLst>
          </p:cNvPr>
          <p:cNvSpPr/>
          <p:nvPr/>
        </p:nvSpPr>
        <p:spPr>
          <a:xfrm>
            <a:off x="3538642" y="4691963"/>
            <a:ext cx="1401926" cy="1685700"/>
          </a:xfrm>
          <a:prstGeom prst="roundRect">
            <a:avLst/>
          </a:prstGeom>
          <a:solidFill>
            <a:srgbClr val="6366F1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35188-3ED3-9D3B-23E1-FEE8D90EF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655" y="480337"/>
            <a:ext cx="8952689" cy="609160"/>
          </a:xfrm>
          <a:noFill/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Marketing Campaign Insights — H1 2024</a:t>
            </a:r>
            <a:endParaRPr lang="es-CR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CD8DD-E4D7-1CDF-50F6-891F29748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55" y="1160395"/>
            <a:ext cx="8952689" cy="298753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Key findings and strategic recommendations · Jan–Jun 2024</a:t>
            </a:r>
            <a:endParaRPr lang="es-CR" sz="1200" dirty="0">
              <a:solidFill>
                <a:srgbClr val="64748B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C7088F-51FD-F89B-F4EF-76F0C7B4CE59}"/>
              </a:ext>
            </a:extLst>
          </p:cNvPr>
          <p:cNvCxnSpPr>
            <a:cxnSpLocks/>
          </p:cNvCxnSpPr>
          <p:nvPr/>
        </p:nvCxnSpPr>
        <p:spPr>
          <a:xfrm>
            <a:off x="776995" y="1459148"/>
            <a:ext cx="1050182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DC6711-323D-36F8-E0BD-4ACAD81134FE}"/>
              </a:ext>
            </a:extLst>
          </p:cNvPr>
          <p:cNvSpPr txBox="1"/>
          <p:nvPr/>
        </p:nvSpPr>
        <p:spPr>
          <a:xfrm>
            <a:off x="776994" y="1857735"/>
            <a:ext cx="5319005" cy="25970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R" sz="1400" b="1" dirty="0">
                <a:solidFill>
                  <a:srgbClr val="6366F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Changed?</a:t>
            </a:r>
          </a:p>
          <a:p>
            <a:pPr>
              <a:lnSpc>
                <a:spcPct val="150000"/>
              </a:lnSpc>
            </a:pPr>
            <a:endParaRPr lang="es-CR" sz="1200" dirty="0">
              <a:solidFill>
                <a:srgbClr val="CBD5E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📈  Total revenue grew +76% from January to June across all channels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✅  SEO delivered the highest ROI (410%–665%) at a flat $1,200/month spend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⚠️  PPC generates the highest absolute revenue but requires the most capital ($35K+)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 Email CTR dipped in April, likely send list fatigue or a weaker offer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🔴  Paid Social has the highest CPA (~$23.60) vs Email's ~$4.90)</a:t>
            </a:r>
            <a:endParaRPr lang="es-CR" sz="1200" dirty="0">
              <a:solidFill>
                <a:srgbClr val="CBD5E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D62309-3CB4-5C3C-6B70-66B1C0753953}"/>
              </a:ext>
            </a:extLst>
          </p:cNvPr>
          <p:cNvSpPr/>
          <p:nvPr/>
        </p:nvSpPr>
        <p:spPr>
          <a:xfrm>
            <a:off x="913185" y="4691963"/>
            <a:ext cx="2366861" cy="1685700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GROW</a:t>
            </a:r>
          </a:p>
          <a:p>
            <a:pPr algn="ctr"/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Increase SEO content budget by 50%</a:t>
            </a:r>
          </a:p>
          <a:p>
            <a:pPr algn="ctr"/>
            <a:endParaRPr lang="en-US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dirty="0"/>
              <a:t>Best ROI, growing conversions, low incremental cost</a:t>
            </a:r>
            <a:endParaRPr lang="es-CR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0EBE2E-8557-1D9C-27F1-A7474D18A7D0}"/>
              </a:ext>
            </a:extLst>
          </p:cNvPr>
          <p:cNvSpPr/>
          <p:nvPr/>
        </p:nvSpPr>
        <p:spPr>
          <a:xfrm>
            <a:off x="3599842" y="4691963"/>
            <a:ext cx="2366860" cy="1685700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OPTIMIZE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A/B test Email campaigns — fix April dip</a:t>
            </a:r>
          </a:p>
          <a:p>
            <a:pPr algn="ctr"/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dirty="0"/>
              <a:t>Cheapest CPA channel; recovering CVR = big wins</a:t>
            </a:r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3DE613-9154-3B80-0DFE-27787F8A4ABC}"/>
              </a:ext>
            </a:extLst>
          </p:cNvPr>
          <p:cNvSpPr/>
          <p:nvPr/>
        </p:nvSpPr>
        <p:spPr>
          <a:xfrm>
            <a:off x="6286498" y="4691963"/>
            <a:ext cx="2366861" cy="1685700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MONITOR</a:t>
            </a:r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s-C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Cap</a:t>
            </a:r>
            <a:r>
              <a:rPr lang="es-C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PPC </a:t>
            </a:r>
            <a:r>
              <a:rPr lang="es-C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spend</a:t>
            </a:r>
            <a:r>
              <a:rPr lang="es-C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C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growth</a:t>
            </a:r>
            <a:endParaRPr lang="es-CR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dirty="0"/>
              <a:t>ROI positive but scalability risk without quality score work</a:t>
            </a:r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EBE234-5B08-A904-6852-177CF12A65D4}"/>
              </a:ext>
            </a:extLst>
          </p:cNvPr>
          <p:cNvSpPr/>
          <p:nvPr/>
        </p:nvSpPr>
        <p:spPr>
          <a:xfrm>
            <a:off x="8911955" y="4691963"/>
            <a:ext cx="2366860" cy="1685700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REDUCE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Shift 20% of Paid Social budget to Email/SEO</a:t>
            </a:r>
          </a:p>
          <a:p>
            <a:pPr algn="ctr"/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dirty="0"/>
              <a:t>Email is 5x more efficient per conversion dollar</a:t>
            </a:r>
            <a:endParaRPr lang="es-C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542748E-0BD0-FD87-5B0B-47EA68C27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404838"/>
              </p:ext>
            </p:extLst>
          </p:nvPr>
        </p:nvGraphicFramePr>
        <p:xfrm>
          <a:off x="6029296" y="2044003"/>
          <a:ext cx="5385711" cy="20892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237">
                  <a:extLst>
                    <a:ext uri="{9D8B030D-6E8A-4147-A177-3AD203B41FA5}">
                      <a16:colId xmlns:a16="http://schemas.microsoft.com/office/drawing/2014/main" val="2506049670"/>
                    </a:ext>
                  </a:extLst>
                </a:gridCol>
                <a:gridCol w="1795237">
                  <a:extLst>
                    <a:ext uri="{9D8B030D-6E8A-4147-A177-3AD203B41FA5}">
                      <a16:colId xmlns:a16="http://schemas.microsoft.com/office/drawing/2014/main" val="4236601824"/>
                    </a:ext>
                  </a:extLst>
                </a:gridCol>
                <a:gridCol w="1795237">
                  <a:extLst>
                    <a:ext uri="{9D8B030D-6E8A-4147-A177-3AD203B41FA5}">
                      <a16:colId xmlns:a16="http://schemas.microsoft.com/office/drawing/2014/main" val="1145455192"/>
                    </a:ext>
                  </a:extLst>
                </a:gridCol>
              </a:tblGrid>
              <a:tr h="69640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541%</a:t>
                      </a:r>
                      <a:endParaRPr lang="es-CR" sz="28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$4.90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2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$23.60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286696"/>
                  </a:ext>
                </a:extLst>
              </a:tr>
              <a:tr h="6964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SEO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Email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Social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34536"/>
                  </a:ext>
                </a:extLst>
              </a:tr>
              <a:tr h="6964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ROI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CPA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CPA</a:t>
                      </a:r>
                      <a:endParaRPr lang="es-CR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7175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48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180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Marketing Campaign Insights — H1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PEÑA GOMEZ ANGELO</dc:creator>
  <cp:lastModifiedBy>PEÑA GOMEZ ANGELO</cp:lastModifiedBy>
  <cp:revision>2</cp:revision>
  <dcterms:created xsi:type="dcterms:W3CDTF">2026-03-03T20:42:04Z</dcterms:created>
  <dcterms:modified xsi:type="dcterms:W3CDTF">2026-03-03T21:31:01Z</dcterms:modified>
</cp:coreProperties>
</file>